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3A5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023360"/>
            <a:ext cx="3108960" cy="3108960"/>
          </a:xfrm>
          <a:prstGeom prst="ellipse">
            <a:avLst/>
          </a:prstGeom>
          <a:solidFill>
            <a:srgbClr val="0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80960" y="5120640"/>
            <a:ext cx="2194560" cy="2194560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zensar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2991346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286000"/>
            <a:ext cx="78638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How the Pipelines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977639"/>
            <a:ext cx="1005840" cy="82296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768096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From a document to slides, a publisher-ready paper
or a branded white paper - step by step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Starting the app — start.bat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scripts/bootstrap.ps1 - safe to run again: finished steps are skipped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Port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already running? another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program? → next free port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Python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find or install 3.12;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private .venv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Packages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pip, or the git offline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bundle (SHA-256 checked)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Models + UI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embedding model;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interface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Image AI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nvidia-smi → CUDA or CPU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PyTorch; DreamShaper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22711" y="3383280"/>
            <a:ext cx="0" cy="50292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39731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Writing AI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Ollama + Qwen 2.5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(7B on 8 GB+ GPU)</a:t>
            </a:r>
          </a:p>
        </p:txBody>
      </p:sp>
      <p:sp>
        <p:nvSpPr>
          <p:cNvPr id="24" name="Oval 23"/>
          <p:cNvSpPr/>
          <p:nvPr/>
        </p:nvSpPr>
        <p:spPr>
          <a:xfrm>
            <a:off x="9630003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392259" y="468630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26299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Check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check_environment.py</a:t>
            </a:r>
          </a:p>
        </p:txBody>
      </p:sp>
      <p:sp>
        <p:nvSpPr>
          <p:cNvPr id="27" name="Oval 26"/>
          <p:cNvSpPr/>
          <p:nvPr/>
        </p:nvSpPr>
        <p:spPr>
          <a:xfrm>
            <a:off x="7316571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078827" y="468630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12867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Run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server on :8000;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browser opens</a:t>
            </a:r>
          </a:p>
        </p:txBody>
      </p:sp>
      <p:sp>
        <p:nvSpPr>
          <p:cNvPr id="30" name="Oval 29"/>
          <p:cNvSpPr/>
          <p:nvPr/>
        </p:nvSpPr>
        <p:spPr>
          <a:xfrm>
            <a:off x="5003139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Step one for every tool: 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backend/ingestion · backend/papers/readers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Upload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PDF · Word · PowerPoint ·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text · video · repository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Layout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PyMuPDF: text pieces with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position, size, font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Clean-up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columns, headers/footers,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hyphens, drop caps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Elements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headings, paragraphs, lists,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tables, figures, formulas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Structured content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sections with page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numbers (provenance)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PIPELINE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Projects: documents → slides, visuals,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Projects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backend/pipeline/orchestrator.py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Chunk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passages that keep page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and section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Embed + search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MiniLM (ONNX) +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FAISS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Relevance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only what the instruction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asks for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Contract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instruction → precise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specification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Plan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Qwen 2.5 writes slides from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the passages (JSON)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22711" y="3383280"/>
            <a:ext cx="0" cy="50292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39731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Verify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claims vs sources;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numbers must match</a:t>
            </a:r>
          </a:p>
        </p:txBody>
      </p:sp>
      <p:sp>
        <p:nvSpPr>
          <p:cNvPr id="24" name="Oval 23"/>
          <p:cNvSpPr/>
          <p:nvPr/>
        </p:nvSpPr>
        <p:spPr>
          <a:xfrm>
            <a:off x="9630003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392259" y="468630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26299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Visuals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charts from real tables;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diagrams from structure</a:t>
            </a:r>
          </a:p>
        </p:txBody>
      </p:sp>
      <p:sp>
        <p:nvSpPr>
          <p:cNvPr id="27" name="Oval 26"/>
          <p:cNvSpPr/>
          <p:nvPr/>
        </p:nvSpPr>
        <p:spPr>
          <a:xfrm>
            <a:off x="7316571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078827" y="468630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12867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Render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PPTX · PDF · PNG/SVG ·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MP4 with narration</a:t>
            </a:r>
          </a:p>
        </p:txBody>
      </p:sp>
      <p:sp>
        <p:nvSpPr>
          <p:cNvPr id="30" name="Oval 29"/>
          <p:cNvSpPr/>
          <p:nvPr/>
        </p:nvSpPr>
        <p:spPr>
          <a:xfrm>
            <a:off x="5003139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6D6E71"/>
                </a:solidFill>
                <a:latin typeface="Arial"/>
              </a:rPr>
              <a:t>Without a local AI the plan uses extractive mode: real sentences from the document.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Projects —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0624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Built with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Where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Editable PowerPoint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python-pptx from the scene graph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Presentation tab · outputs/&lt;project&gt;/presentation/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PDF + slide previews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Pillow raster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Presentation tab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Visuals (PNG / SVG)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components + Matplotlib charts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Images tab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Narrated video (MP4)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motion graphics, SAPI voices, music, FFmpeg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Video editor tab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Source mapping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verification links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Sources tab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PIPELINE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Research Papers: paper → publisher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Research Papers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backend/papers/service.py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Read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PDF / Word / LaTeX /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text readers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Structure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title, authors, abstract,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sections, statements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References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split + parse by rules;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AI only as checked fallback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Citations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[1], [2–5], (Smith, 2020)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linked to references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Cross-refs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Table 2, Fig. 3, Section 2.1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renumbered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22711" y="3383280"/>
            <a:ext cx="0" cy="50292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39731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Format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citeproc-py + official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CSL styles</a:t>
            </a:r>
          </a:p>
        </p:txBody>
      </p:sp>
      <p:sp>
        <p:nvSpPr>
          <p:cNvPr id="24" name="Oval 23"/>
          <p:cNvSpPr/>
          <p:nvPr/>
        </p:nvSpPr>
        <p:spPr>
          <a:xfrm>
            <a:off x="9630003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392259" y="468630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26299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Write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LaTeX · Word · PDF ·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BibTeX</a:t>
            </a:r>
          </a:p>
        </p:txBody>
      </p:sp>
      <p:sp>
        <p:nvSpPr>
          <p:cNvPr id="27" name="Oval 26"/>
          <p:cNvSpPr/>
          <p:nvPr/>
        </p:nvSpPr>
        <p:spPr>
          <a:xfrm>
            <a:off x="7316571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078827" y="468630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12867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Report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publisher checks +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text preserved</a:t>
            </a:r>
          </a:p>
        </p:txBody>
      </p:sp>
      <p:sp>
        <p:nvSpPr>
          <p:cNvPr id="30" name="Oval 29"/>
          <p:cNvSpPr/>
          <p:nvPr/>
        </p:nvSpPr>
        <p:spPr>
          <a:xfrm>
            <a:off x="5003139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Supported publisher formats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926080"/>
                <a:gridCol w="493776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Format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LaTeX class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Layout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Springer Nature journal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sn-jnl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single column, Declarations section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Springer LNCS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llncs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proceedings text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Elsevier journal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elsarticle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preprint, highlights, CRediT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IEEE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IEEEtran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two columns, Roman headings, TABLE 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ACM conference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acmart (sigconf)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two columns, CCS concepts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APA 7th edition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apa7 + biblatex-apa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title page, double spacing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PIPELINE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Brand Documents: document → branded white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Learning a template from a reference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backend/branddocs/reference.py - done once per reference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Text pieces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type sizes: headings,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body, labels, footer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Vector drawings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cards, bands, rules, dashes,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bullets, logo, pattern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Rendered pixels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true colours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(blend modes included)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Page roles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cover · intro · text · image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· conclusion · back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356616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2240280"/>
            <a:ext cx="1965960" cy="265176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</a:rPr>
              <a:t>Template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geometry, styles, artwork,</a:t>
            </a:r>
          </a:p>
          <a:p>
            <a:pPr algn="ctr"/>
            <a:r>
              <a:rPr sz="1300">
                <a:solidFill>
                  <a:srgbClr val="1A1A1A"/>
                </a:solidFill>
                <a:latin typeface="Arial"/>
              </a:rPr>
              <a:t>footer, size profile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21305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Creating a branded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6D6E71"/>
                </a:solidFill>
                <a:latin typeface="Arial"/>
              </a:rPr>
              <a:t>backend/branddocs/service.py</a:t>
            </a:r>
          </a:p>
        </p:txBody>
      </p:sp>
      <p:pic>
        <p:nvPicPr>
          <p:cNvPr id="6" name="Picture 5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003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Read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sections, lists, tables,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conclusion, authors</a:t>
            </a:r>
          </a:p>
        </p:txBody>
      </p:sp>
      <p:sp>
        <p:nvSpPr>
          <p:cNvPr id="9" name="Oval 8"/>
          <p:cNvSpPr/>
          <p:nvPr/>
        </p:nvSpPr>
        <p:spPr>
          <a:xfrm>
            <a:off x="376275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51963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9435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Fit length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Qwen condenses/expands to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the reference size</a:t>
            </a:r>
          </a:p>
        </p:txBody>
      </p:sp>
      <p:sp>
        <p:nvSpPr>
          <p:cNvPr id="12" name="Oval 11"/>
          <p:cNvSpPr/>
          <p:nvPr/>
        </p:nvSpPr>
        <p:spPr>
          <a:xfrm>
            <a:off x="2689707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65395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12867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Check numbers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every number must be in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the source; trim to size</a:t>
            </a:r>
          </a:p>
        </p:txBody>
      </p:sp>
      <p:sp>
        <p:nvSpPr>
          <p:cNvPr id="15" name="Oval 14"/>
          <p:cNvSpPr/>
          <p:nvPr/>
        </p:nvSpPr>
        <p:spPr>
          <a:xfrm>
            <a:off x="5003139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78827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26299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Describe images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AI writes a scene per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image from the content</a:t>
            </a:r>
          </a:p>
        </p:txBody>
      </p:sp>
      <p:sp>
        <p:nvSpPr>
          <p:cNvPr id="18" name="Oval 17"/>
          <p:cNvSpPr/>
          <p:nvPr/>
        </p:nvSpPr>
        <p:spPr>
          <a:xfrm>
            <a:off x="7316571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92259" y="258318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739731" y="178308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D3E1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Generate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Stable Diffusion in a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separate worker (GPU/CPU)</a:t>
            </a:r>
          </a:p>
        </p:txBody>
      </p:sp>
      <p:sp>
        <p:nvSpPr>
          <p:cNvPr id="21" name="Oval 20"/>
          <p:cNvSpPr/>
          <p:nvPr/>
        </p:nvSpPr>
        <p:spPr>
          <a:xfrm>
            <a:off x="9630003" y="167335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722711" y="3383280"/>
            <a:ext cx="0" cy="50292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39731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CF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Grade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colours matched to the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reference photos</a:t>
            </a:r>
          </a:p>
        </p:txBody>
      </p:sp>
      <p:sp>
        <p:nvSpPr>
          <p:cNvPr id="24" name="Oval 23"/>
          <p:cNvSpPr/>
          <p:nvPr/>
        </p:nvSpPr>
        <p:spPr>
          <a:xfrm>
            <a:off x="9630003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9392259" y="468630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26299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F1C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Lay out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ReportLab: pages like the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reference, vector artwork</a:t>
            </a:r>
          </a:p>
        </p:txBody>
      </p:sp>
      <p:sp>
        <p:nvSpPr>
          <p:cNvPr id="27" name="Oval 26"/>
          <p:cNvSpPr/>
          <p:nvPr/>
        </p:nvSpPr>
        <p:spPr>
          <a:xfrm>
            <a:off x="7316571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7078827" y="4686300"/>
            <a:ext cx="347472" cy="0"/>
          </a:xfrm>
          <a:prstGeom prst="line">
            <a:avLst/>
          </a:prstGeom>
          <a:ln w="25400">
            <a:solidFill>
              <a:srgbClr val="6D6E7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12867" y="3886200"/>
            <a:ext cx="1965960" cy="1600200"/>
          </a:xfrm>
          <a:prstGeom prst="roundRect">
            <a:avLst>
              <a:gd name="adj" fmla="val 12000"/>
            </a:avLst>
          </a:prstGeom>
          <a:solidFill>
            <a:srgbClr val="EDD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400" b="1">
                <a:solidFill>
                  <a:srgbClr val="1A1A1A"/>
                </a:solidFill>
                <a:latin typeface="Arial"/>
              </a:rPr>
              <a:t>Check</a:t>
            </a:r>
          </a:p>
          <a:p>
            <a:pPr algn="ctr"/>
            <a:r>
              <a:rPr sz="1100">
                <a:solidFill>
                  <a:srgbClr val="1A1A1A"/>
                </a:solidFill>
                <a:latin typeface="Arial"/>
              </a:rPr>
              <a:t>words arrived; report</a:t>
            </a:r>
          </a:p>
        </p:txBody>
      </p:sp>
      <p:sp>
        <p:nvSpPr>
          <p:cNvPr id="30" name="Oval 29"/>
          <p:cNvSpPr/>
          <p:nvPr/>
        </p:nvSpPr>
        <p:spPr>
          <a:xfrm>
            <a:off x="5003139" y="3776472"/>
            <a:ext cx="384048" cy="384048"/>
          </a:xfrm>
          <a:prstGeom prst="ellipse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Brand Documents — page designs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Page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</a:rPr>
                        <a:t>What goes on it</a:t>
                      </a:r>
                    </a:p>
                  </a:txBody>
                  <a:tcPr>
                    <a:solidFill>
                      <a:srgbClr val="1000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Cover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generated image, logo (exact vectors), title, label (e.g. White Paper)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Intro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opening section in the coloured card; the next section below in two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Text pages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two columns, headings with the brand dash, rules, bullets, tables, formulas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Image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photo fading into the page, one section per 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Conclusion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closing card or band (text above it when the reference does that)</a:t>
                      </a:r>
                    </a:p>
                  </a:txBody>
                  <a:tcPr>
                    <a:solidFill>
                      <a:srgbClr val="F0F0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  <a:latin typeface="Arial"/>
                        </a:rPr>
                        <a:t>Back cover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Arial"/>
                        </a:rPr>
                        <a:t>authors, brand pattern and logo, company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424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0005D"/>
                </a:solidFill>
                <a:latin typeface="Arial"/>
              </a:rPr>
              <a:t>Trust built into every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685800" cy="64008"/>
          </a:xfrm>
          <a:prstGeom prst="rect">
            <a:avLst/>
          </a:prstGeom>
          <a:solidFill>
            <a:srgbClr val="F04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zensar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412" y="457200"/>
            <a:ext cx="1631643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6D6E71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D6E71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Local only</a:t>
            </a:r>
            <a:r>
              <a:rPr sz="1800">
                <a:solidFill>
                  <a:srgbClr val="1A1A1A"/>
                </a:solidFill>
                <a:latin typeface="Arial"/>
              </a:rPr>
              <a:t> — a network guard blocks every outside connection; the AI runs on this computer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Traceable</a:t>
            </a:r>
            <a:r>
              <a:rPr sz="1800">
                <a:solidFill>
                  <a:srgbClr val="1A1A1A"/>
                </a:solidFill>
                <a:latin typeface="Arial"/>
              </a:rPr>
              <a:t> — every statement keeps a link to its source page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No invented numbers</a:t>
            </a:r>
            <a:r>
              <a:rPr sz="1800">
                <a:solidFill>
                  <a:srgbClr val="1A1A1A"/>
                </a:solidFill>
                <a:latin typeface="Arial"/>
              </a:rPr>
              <a:t> — numbers must appear in the source, or the text is replaced by the source's own sentences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Checked results</a:t>
            </a:r>
            <a:r>
              <a:rPr sz="1800">
                <a:solidFill>
                  <a:srgbClr val="1A1A1A"/>
                </a:solidFill>
                <a:latin typeface="Arial"/>
              </a:rPr>
              <a:t> — every job ends with a report: words preserved, publisher checks, fonts, images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04E45"/>
                </a:solidFill>
                <a:latin typeface="Arial"/>
              </a:rPr>
              <a:t>●  </a:t>
            </a:r>
            <a:r>
              <a:rPr b="1" sz="1800">
                <a:solidFill>
                  <a:srgbClr val="1A1A1A"/>
                </a:solidFill>
                <a:latin typeface="Arial"/>
              </a:rPr>
              <a:t>Re-usable</a:t>
            </a:r>
            <a:r>
              <a:rPr sz="1800">
                <a:solidFill>
                  <a:srgbClr val="1A1A1A"/>
                </a:solidFill>
                <a:latin typeface="Arial"/>
              </a:rPr>
              <a:t> — papers are read once and exported to any format; images are cached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5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Upload a document - get finished, on-brand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Zensar Content Studio  | 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